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5" r:id="rId1"/>
  </p:sldMasterIdLst>
  <p:notesMasterIdLst>
    <p:notesMasterId r:id="rId8"/>
  </p:notesMasterIdLst>
  <p:sldIdLst>
    <p:sldId id="294" r:id="rId2"/>
    <p:sldId id="259" r:id="rId3"/>
    <p:sldId id="295" r:id="rId4"/>
    <p:sldId id="297" r:id="rId5"/>
    <p:sldId id="298" r:id="rId6"/>
    <p:sldId id="29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60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8" y="50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535-7902-4437-B8FA-26A11393DACD}" type="datetimeFigureOut">
              <a:rPr kumimoji="1" lang="ja-JP" altLang="en-US" smtClean="0"/>
              <a:t>2025/1/7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032A6-37D1-401C-BD15-77868AE561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392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・労働力不足や産業の効率化のために自律ドローンの需要が増加</a:t>
            </a:r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さらなる効率化のためにドローンの自律化が重要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032A6-37D1-401C-BD15-77868AE5611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7075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606037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2953" y="3916614"/>
            <a:ext cx="6925498" cy="2054417"/>
          </a:xfrm>
        </p:spPr>
        <p:txBody>
          <a:bodyPr lIns="91440" rIns="91440">
            <a:normAutofit/>
          </a:bodyPr>
          <a:lstStyle>
            <a:lvl1pPr marL="0" indent="0" algn="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 dirty="0"/>
              <a:t>高機能機械制御研究室</a:t>
            </a:r>
            <a:endParaRPr lang="en-US" altLang="ja-JP" dirty="0"/>
          </a:p>
          <a:p>
            <a:r>
              <a:rPr lang="ja-JP" altLang="en-US" dirty="0"/>
              <a:t>指導 関口 和真 准教授</a:t>
            </a:r>
            <a:endParaRPr lang="en-US" altLang="ja-JP" dirty="0"/>
          </a:p>
          <a:p>
            <a:r>
              <a:rPr lang="ja-JP" altLang="en-US" dirty="0"/>
              <a:t>野中 謙一郎 教授</a:t>
            </a:r>
            <a:endParaRPr lang="en-US" altLang="ja-JP" dirty="0"/>
          </a:p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2381034</a:t>
            </a:r>
            <a:r>
              <a:rPr lang="en-US" altLang="ja-JP" dirty="0"/>
              <a:t> </a:t>
            </a:r>
            <a:r>
              <a:rPr lang="ja-JP" altLang="en-US" dirty="0"/>
              <a:t>髙野 航汰</a:t>
            </a:r>
            <a:endParaRPr lang="en-US" altLang="ja-JP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0EBF0-5951-49CE-A92B-54C711352211}" type="datetime1">
              <a:rPr kumimoji="1" lang="ja-JP" altLang="en-US" smtClean="0"/>
              <a:t>2025/1/7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2023</a:t>
            </a:r>
            <a:r>
              <a:rPr kumimoji="1" lang="ja-JP" altLang="en-US"/>
              <a:t>年</a:t>
            </a:r>
            <a:r>
              <a:rPr kumimoji="1" lang="en-US" altLang="ja-JP"/>
              <a:t>5</a:t>
            </a:r>
            <a:r>
              <a:rPr kumimoji="1" lang="ja-JP" altLang="en-US"/>
              <a:t>月報告会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496D-8341-4259-A33B-F15F904FBB9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035636" y="3608797"/>
            <a:ext cx="10271075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092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8ADE4-1A8D-4493-99E6-715386EAF9F4}" type="datetime1">
              <a:rPr kumimoji="1" lang="ja-JP" altLang="en-US" smtClean="0"/>
              <a:t>2025/1/7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2023</a:t>
            </a:r>
            <a:r>
              <a:rPr kumimoji="1" lang="ja-JP" altLang="en-US"/>
              <a:t>年</a:t>
            </a:r>
            <a:r>
              <a:rPr kumimoji="1" lang="en-US" altLang="ja-JP"/>
              <a:t>5</a:t>
            </a:r>
            <a:r>
              <a:rPr kumimoji="1" lang="ja-JP" altLang="en-US"/>
              <a:t>月報告会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496D-8341-4259-A33B-F15F904FBB9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7596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 userDrawn="1"/>
        </p:nvSpPr>
        <p:spPr>
          <a:xfrm flipV="1">
            <a:off x="0" y="6400313"/>
            <a:ext cx="12192001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071" y="111946"/>
            <a:ext cx="11835829" cy="6021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427" y="1140431"/>
            <a:ext cx="11948845" cy="511868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cap="all" baseline="0">
                <a:solidFill>
                  <a:srgbClr val="FFFFFF"/>
                </a:solidFill>
              </a:defRPr>
            </a:lvl1pPr>
          </a:lstStyle>
          <a:p>
            <a:r>
              <a:rPr kumimoji="1" lang="en-US" altLang="ja-JP" dirty="0"/>
              <a:t>2023</a:t>
            </a:r>
            <a:r>
              <a:rPr kumimoji="1" lang="ja-JP" altLang="en-US" dirty="0"/>
              <a:t>年</a:t>
            </a:r>
            <a:r>
              <a:rPr kumimoji="1" lang="en-US" altLang="ja-JP" dirty="0"/>
              <a:t>5</a:t>
            </a:r>
            <a:r>
              <a:rPr kumimoji="1" lang="ja-JP" altLang="en-US" dirty="0"/>
              <a:t>月報告会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</a:defRPr>
            </a:lvl1pPr>
          </a:lstStyle>
          <a:p>
            <a:fld id="{B38A496D-8341-4259-A33B-F15F904FBB9D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0" y="828584"/>
            <a:ext cx="121920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>
                <a:solidFill>
                  <a:srgbClr val="FFFFFF"/>
                </a:solidFill>
              </a:defRPr>
            </a:lvl1pPr>
          </a:lstStyle>
          <a:p>
            <a:fld id="{48801C53-5E26-4AA2-AEB5-89C941BD43CB}" type="datetime1">
              <a:rPr kumimoji="1" lang="ja-JP" altLang="en-US" smtClean="0"/>
              <a:pPr/>
              <a:t>2025/1/7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9212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3200" kern="1200" spc="-5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l"/>
        <a:defRPr kumimoji="1"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n"/>
        <a:defRPr kumimoji="1"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ü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0.png"/><Relationship Id="rId7" Type="http://schemas.openxmlformats.org/officeDocument/2006/relationships/image" Target="../media/image10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10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694E82-1313-437B-A324-2E4261AD9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606037"/>
          </a:xfrm>
        </p:spPr>
        <p:txBody>
          <a:bodyPr>
            <a:normAutofit/>
          </a:bodyPr>
          <a:lstStyle/>
          <a:p>
            <a:r>
              <a:rPr lang="en-US" altLang="ja-JP" dirty="0"/>
              <a:t>PINN</a:t>
            </a:r>
            <a:r>
              <a:rPr lang="ja-JP" altLang="en-US" dirty="0"/>
              <a:t>の説明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136EFC6-545A-4586-8931-65B9E64F1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2953" y="3916614"/>
            <a:ext cx="6925498" cy="2054417"/>
          </a:xfrm>
        </p:spPr>
        <p:txBody>
          <a:bodyPr>
            <a:normAutofit/>
          </a:bodyPr>
          <a:lstStyle/>
          <a:p>
            <a:r>
              <a:rPr lang="ja-JP" altLang="en-US" dirty="0"/>
              <a:t>高機能機械制御研究室</a:t>
            </a:r>
            <a:endParaRPr lang="en-US" altLang="ja-JP" dirty="0"/>
          </a:p>
          <a:p>
            <a:r>
              <a:rPr lang="ja-JP" altLang="en-US" dirty="0"/>
              <a:t>指導 関口 和真 准教授</a:t>
            </a:r>
            <a:endParaRPr lang="en-US" altLang="ja-JP" dirty="0"/>
          </a:p>
          <a:p>
            <a:r>
              <a:rPr lang="ja-JP" altLang="en-US" dirty="0"/>
              <a:t>野中 謙一郎 教授</a:t>
            </a:r>
            <a:endParaRPr lang="en-US" altLang="ja-JP" dirty="0"/>
          </a:p>
          <a:p>
            <a:r>
              <a:rPr lang="en-US" altLang="ja-JP" dirty="0"/>
              <a:t>2381034 </a:t>
            </a:r>
            <a:r>
              <a:rPr lang="ja-JP" altLang="en-US" dirty="0"/>
              <a:t>髙野 航汰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24224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>
            <a:extLst>
              <a:ext uri="{FF2B5EF4-FFF2-40B4-BE49-F238E27FC236}">
                <a16:creationId xmlns:a16="http://schemas.microsoft.com/office/drawing/2014/main" id="{1E602AFF-C271-BCD0-816F-32656F24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95724A-57C5-1C3C-0911-23F440598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US" altLang="zh-TW"/>
              <a:t>2023</a:t>
            </a:r>
            <a:r>
              <a:rPr lang="zh-TW" altLang="en-US"/>
              <a:t>年</a:t>
            </a:r>
            <a:r>
              <a:rPr lang="en-US" altLang="zh-TW"/>
              <a:t>5</a:t>
            </a:r>
            <a:r>
              <a:rPr lang="zh-TW" altLang="en-US"/>
              <a:t>月報告会</a:t>
            </a:r>
            <a:endParaRPr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B46D16-9926-EFB2-A943-D909CC8D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B38A496D-8341-4259-A33B-F15F904FBB9D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1887B0CA-D199-F509-009F-B6C902631201}"/>
              </a:ext>
            </a:extLst>
          </p:cNvPr>
          <p:cNvSpPr txBox="1">
            <a:spLocks/>
          </p:cNvSpPr>
          <p:nvPr/>
        </p:nvSpPr>
        <p:spPr>
          <a:xfrm>
            <a:off x="252056" y="957766"/>
            <a:ext cx="8979408" cy="525830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kumimoji="1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kumimoji="1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ü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PINN(Physics-Informed Neural Network)</a:t>
            </a:r>
          </a:p>
          <a:p>
            <a:r>
              <a:rPr lang="ja-JP" altLang="en-US" dirty="0"/>
              <a:t>本来は微分方程式を解くための手法</a:t>
            </a:r>
            <a:endParaRPr lang="en-US" altLang="ja-JP" dirty="0"/>
          </a:p>
          <a:p>
            <a:pPr lvl="1"/>
            <a:r>
              <a:rPr lang="ja-JP" altLang="en-US" dirty="0"/>
              <a:t>損失関数に特徴</a:t>
            </a:r>
            <a:endParaRPr lang="en-US" altLang="ja-JP" dirty="0"/>
          </a:p>
          <a:p>
            <a:pPr lvl="2"/>
            <a:r>
              <a:rPr lang="ja-JP" altLang="en-US" dirty="0"/>
              <a:t>支配方程式による拘束（支配方程式：運動方程式）</a:t>
            </a:r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1"/>
            <a:r>
              <a:rPr lang="ja-JP" altLang="en-US" dirty="0"/>
              <a:t>順問題</a:t>
            </a:r>
            <a:endParaRPr lang="en-US" altLang="ja-JP" dirty="0"/>
          </a:p>
          <a:p>
            <a:pPr lvl="2"/>
            <a:r>
              <a:rPr lang="ja-JP" altLang="en-US" dirty="0"/>
              <a:t>方程式の解を求める（式はわかっているのでグラフの軌跡を求める）</a:t>
            </a:r>
            <a:endParaRPr lang="en-US" altLang="ja-JP" dirty="0"/>
          </a:p>
          <a:p>
            <a:pPr lvl="1"/>
            <a:r>
              <a:rPr lang="ja-JP" altLang="en-US" dirty="0"/>
              <a:t>逆問題</a:t>
            </a:r>
            <a:endParaRPr lang="en-US" altLang="ja-JP" dirty="0"/>
          </a:p>
          <a:p>
            <a:pPr lvl="2"/>
            <a:r>
              <a:rPr lang="ja-JP" altLang="en-US" dirty="0"/>
              <a:t>解の観測値からパラメータを求める（グラフはわかっているの</a:t>
            </a:r>
            <a:r>
              <a:rPr lang="en-US" altLang="ja-JP" dirty="0"/>
              <a:t>d</a:t>
            </a:r>
            <a:r>
              <a:rPr lang="ja-JP" altLang="en-US" dirty="0"/>
              <a:t>式を求める）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704C54A5-3C37-3275-E9BA-F71623A5BE65}"/>
              </a:ext>
            </a:extLst>
          </p:cNvPr>
          <p:cNvCxnSpPr/>
          <p:nvPr/>
        </p:nvCxnSpPr>
        <p:spPr>
          <a:xfrm>
            <a:off x="516361" y="3317218"/>
            <a:ext cx="67491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867C131-91F6-967B-0D15-BD54C2726324}"/>
              </a:ext>
            </a:extLst>
          </p:cNvPr>
          <p:cNvSpPr txBox="1"/>
          <p:nvPr/>
        </p:nvSpPr>
        <p:spPr>
          <a:xfrm>
            <a:off x="1332789" y="3055608"/>
            <a:ext cx="4855029" cy="52322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/>
              <a:t>出力が支配方程式を満足する</a:t>
            </a:r>
          </a:p>
        </p:txBody>
      </p:sp>
    </p:spTree>
    <p:extLst>
      <p:ext uri="{BB962C8B-B14F-4D97-AF65-F5344CB8AC3E}">
        <p14:creationId xmlns:p14="http://schemas.microsoft.com/office/powerpoint/2010/main" val="2214661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4AB996-559A-C736-336A-7B4A76CD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918DCAF-8B25-A8F5-DFAD-5AE51F61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2023</a:t>
            </a:r>
            <a:r>
              <a:rPr kumimoji="1" lang="ja-JP" altLang="en-US"/>
              <a:t>年</a:t>
            </a:r>
            <a:r>
              <a:rPr kumimoji="1" lang="en-US" altLang="ja-JP"/>
              <a:t>5</a:t>
            </a:r>
            <a:r>
              <a:rPr kumimoji="1" lang="ja-JP" altLang="en-US"/>
              <a:t>月報告会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78734DC-06C1-2CBE-577D-DCF8CE6DB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496D-8341-4259-A33B-F15F904FBB9D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1EE334AF-0D17-9B76-EF02-C4D0CEF7E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" y="1201479"/>
            <a:ext cx="8979408" cy="5258307"/>
          </a:xfrm>
        </p:spPr>
        <p:txBody>
          <a:bodyPr/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PINN</a:t>
            </a:r>
            <a:r>
              <a:rPr lang="ja-JP" altLang="en-US" dirty="0"/>
              <a:t>の学習は次式の最適化問題</a:t>
            </a:r>
            <a:endParaRPr lang="en-US" altLang="ja-JP" dirty="0"/>
          </a:p>
          <a:p>
            <a:endParaRPr kumimoji="1" lang="en-US" altLang="ja-JP" sz="2400" dirty="0"/>
          </a:p>
          <a:p>
            <a:pPr>
              <a:lnSpc>
                <a:spcPct val="100000"/>
              </a:lnSpc>
            </a:pPr>
            <a:r>
              <a:rPr lang="ja-JP" altLang="en-US" dirty="0"/>
              <a:t>各損失項の意味は次の通り</a:t>
            </a:r>
            <a:endParaRPr lang="en-US" altLang="ja-JP" dirty="0"/>
          </a:p>
          <a:p>
            <a:pPr lvl="1"/>
            <a:r>
              <a:rPr kumimoji="1"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ja-JP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</a:t>
            </a:r>
            <a:r>
              <a:rPr kumimoji="1" lang="en-US" altLang="ja-JP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kumimoji="1"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支配方程式 </a:t>
            </a:r>
            <a:r>
              <a:rPr kumimoji="1"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ja-JP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 </a:t>
            </a:r>
            <a:r>
              <a:rPr kumimoji="1"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を満足させる項</a:t>
            </a:r>
            <a:endParaRPr kumimoji="1"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ja-JP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ja-JP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ja-JP" sz="3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kumimoji="1" lang="en-US" altLang="ja-JP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ja-JP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b.c</a:t>
            </a:r>
            <a:r>
              <a:rPr kumimoji="1" lang="en-US" altLang="ja-JP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境界条件 </a:t>
            </a:r>
            <a:r>
              <a:rPr lang="en-US" altLang="ja-JP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ja-JP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を</a:t>
            </a:r>
            <a:r>
              <a:rPr kumimoji="1"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満足させる項</a:t>
            </a:r>
            <a:endParaRPr kumimoji="1"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35A6BFF8-7CAD-4781-E67D-1A0D4DA1078D}"/>
                  </a:ext>
                </a:extLst>
              </p:cNvPr>
              <p:cNvSpPr txBox="1"/>
              <p:nvPr/>
            </p:nvSpPr>
            <p:spPr>
              <a:xfrm>
                <a:off x="91440" y="1695602"/>
                <a:ext cx="4595513" cy="674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ja-JP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28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acc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ja-JP" sz="2800" b="0" i="0" smtClean="0">
                          <a:latin typeface="Cambria Math" panose="02040503050406030204" pitchFamily="18" charset="0"/>
                        </a:rPr>
                        <m:t>arg</m:t>
                      </m:r>
                      <m:func>
                        <m:funcPr>
                          <m:ctrlP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ja-JP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kumimoji="1" lang="en-US" altLang="ja-JP" sz="28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2800" b="0" i="0" smtClean="0">
                                  <a:latin typeface="Cambria Math" panose="02040503050406030204" pitchFamily="18" charset="0"/>
                                </a:rPr>
                                <m:t>eq</m:t>
                              </m:r>
                              <m:r>
                                <a:rPr kumimoji="1" lang="en-US" altLang="ja-JP" sz="2800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sub>
                          </m:s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28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kumimoji="1" lang="en-US" altLang="ja-JP" sz="2800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800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kumimoji="1" lang="en-US" altLang="ja-JP" sz="2800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sub>
                          </m:s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35A6BFF8-7CAD-4781-E67D-1A0D4DA10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" y="1695602"/>
                <a:ext cx="4595513" cy="6740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E6B8E84-2697-4234-F54E-FC6AA2795730}"/>
              </a:ext>
            </a:extLst>
          </p:cNvPr>
          <p:cNvSpPr txBox="1"/>
          <p:nvPr/>
        </p:nvSpPr>
        <p:spPr>
          <a:xfrm>
            <a:off x="5062395" y="1888190"/>
            <a:ext cx="4361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kumimoji="1" lang="en-US" altLang="ja-JP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ja-JP" dirty="0"/>
              <a:t>: </a:t>
            </a:r>
            <a:r>
              <a:rPr kumimoji="1" lang="ja-JP" altLang="en-US" dirty="0"/>
              <a:t>パラメータをまとめたベクトル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2330958-7ABC-ABF4-CD73-4ED31011C30F}"/>
                  </a:ext>
                </a:extLst>
              </p:cNvPr>
              <p:cNvSpPr txBox="1"/>
              <p:nvPr/>
            </p:nvSpPr>
            <p:spPr>
              <a:xfrm>
                <a:off x="67367" y="3465513"/>
                <a:ext cx="4792191" cy="981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2000" b="0" i="0" smtClean="0">
                              <a:latin typeface="Cambria Math" panose="02040503050406030204" pitchFamily="18" charset="0"/>
                            </a:rPr>
                            <m:t>eq</m:t>
                          </m:r>
                          <m:r>
                            <a:rPr kumimoji="1" lang="en-US" altLang="ja-JP" sz="2000" b="0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</m:sSub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</a:rPr>
                                <m:t>eq</m:t>
                              </m:r>
                              <m: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sub>
                          </m:sSub>
                        </m:sup>
                        <m:e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  <m:sSup>
                            <m:sSupPr>
                              <m:ctrl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ja-JP" sz="2000" i="0">
                                          <a:latin typeface="Cambria Math" panose="02040503050406030204" pitchFamily="18" charset="0"/>
                                        </a:rPr>
                                        <m:t>col</m:t>
                                      </m:r>
                                    </m:sub>
                                    <m:sup>
                                      <m: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2000" i="0">
                                  <a:latin typeface="Cambria Math" panose="02040503050406030204" pitchFamily="18" charset="0"/>
                                </a:rPr>
                                <m:t>eq</m:t>
                              </m:r>
                              <m:r>
                                <a:rPr kumimoji="1" lang="en-US" altLang="ja-JP" sz="2000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sub>
                          </m:sSub>
                        </m:sup>
                        <m:e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  <m:sSup>
                            <m:sSupPr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kumimoji="1"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ja-JP" sz="2000" i="0">
                                          <a:latin typeface="Cambria Math" panose="02040503050406030204" pitchFamily="18" charset="0"/>
                                        </a:rPr>
                                        <m:t>col</m:t>
                                      </m:r>
                                    </m:sub>
                                    <m:sup>
                                      <m: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kumimoji="1" lang="en-US" altLang="ja-JP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2330958-7ABC-ABF4-CD73-4ED31011C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67" y="3465513"/>
                <a:ext cx="4792191" cy="9819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EE4A6295-D5FD-8559-D2B1-BC107CAFA87B}"/>
                  </a:ext>
                </a:extLst>
              </p:cNvPr>
              <p:cNvSpPr txBox="1"/>
              <p:nvPr/>
            </p:nvSpPr>
            <p:spPr>
              <a:xfrm>
                <a:off x="131592" y="5318417"/>
                <a:ext cx="5259004" cy="981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20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kumimoji="1" lang="en-US" altLang="ja-JP" sz="2000" b="0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kumimoji="1" lang="en-US" altLang="ja-JP" sz="20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kumimoji="1" lang="en-US" altLang="ja-JP" sz="2000" b="0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</m:sSub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ja-JP" sz="2000" b="1" i="1">
                                          <a:latin typeface="Cambria Math" panose="02040503050406030204" pitchFamily="18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ja-JP" sz="2000" b="0" i="0" smtClean="0">
                                          <a:latin typeface="Cambria Math" panose="02040503050406030204" pitchFamily="18" charset="0"/>
                                        </a:rPr>
                                        <m:t>b</m:t>
                                      </m:r>
                                      <m:r>
                                        <a:rPr kumimoji="1" lang="en-US" altLang="ja-JP" sz="2000" b="0" i="0" smtClean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ja-JP" sz="2000" b="0" i="0" smtClean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  <m:r>
                                        <a:rPr kumimoji="1" lang="en-US" altLang="ja-JP" sz="2000" b="0" i="0" smtClean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</m:sub>
                                    <m:sup>
                                      <m: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ja-JP" sz="2000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kumimoji="1" lang="en-US" altLang="ja-JP" sz="2000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kumimoji="1" lang="en-US" altLang="ja-JP" sz="2000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kumimoji="1" lang="en-US" altLang="ja-JP" sz="20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ja-JP" sz="2000" b="0" i="0" smtClean="0">
                                          <a:latin typeface="Cambria Math" panose="02040503050406030204" pitchFamily="18" charset="0"/>
                                        </a:rPr>
                                        <m:t>b</m:t>
                                      </m:r>
                                      <m:r>
                                        <a:rPr kumimoji="1" lang="en-US" altLang="ja-JP" sz="2000" b="0" i="0" smtClean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ja-JP" sz="2000" b="0" i="0" smtClean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  <m:r>
                                        <a:rPr kumimoji="1" lang="en-US" altLang="ja-JP" sz="2000" b="0" i="0" smtClean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</m:sub>
                                    <m:sup>
                                      <m:r>
                                        <a:rPr kumimoji="1" lang="en-US" altLang="ja-JP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kumimoji="1" lang="en-US" altLang="ja-JP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r>
                                    <a:rPr kumimoji="1" lang="en-US" altLang="ja-JP" sz="2000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EE4A6295-D5FD-8559-D2B1-BC107CAFA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92" y="5318417"/>
                <a:ext cx="5259004" cy="9819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表 11">
                <a:extLst>
                  <a:ext uri="{FF2B5EF4-FFF2-40B4-BE49-F238E27FC236}">
                    <a16:creationId xmlns:a16="http://schemas.microsoft.com/office/drawing/2014/main" id="{E1A58B45-590E-103C-BD0F-0D7F2FC0B4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1121572"/>
                  </p:ext>
                </p:extLst>
              </p:nvPr>
            </p:nvGraphicFramePr>
            <p:xfrm>
              <a:off x="7773320" y="3307037"/>
              <a:ext cx="3110222" cy="278762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63218">
                      <a:extLst>
                        <a:ext uri="{9D8B030D-6E8A-4147-A177-3AD203B41FA5}">
                          <a16:colId xmlns:a16="http://schemas.microsoft.com/office/drawing/2014/main" val="699587553"/>
                        </a:ext>
                      </a:extLst>
                    </a:gridCol>
                    <a:gridCol w="2547004">
                      <a:extLst>
                        <a:ext uri="{9D8B030D-6E8A-4147-A177-3AD203B41FA5}">
                          <a16:colId xmlns:a16="http://schemas.microsoft.com/office/drawing/2014/main" val="3814852674"/>
                        </a:ext>
                      </a:extLst>
                    </a:gridCol>
                  </a:tblGrid>
                  <a:tr h="404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NN</a:t>
                          </a:r>
                          <a:r>
                            <a:rPr kumimoji="1" lang="ja-JP" altLang="en-US" dirty="0"/>
                            <a:t>への入力ベクトル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5960847"/>
                      </a:ext>
                    </a:extLst>
                  </a:tr>
                  <a:tr h="60935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col</m:t>
                                    </m:r>
                                  </m:sub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計算領域内の選点</a:t>
                          </a:r>
                          <a:endParaRPr kumimoji="1" lang="en-US" altLang="ja-JP" dirty="0"/>
                        </a:p>
                        <a:p>
                          <a:r>
                            <a:rPr kumimoji="1" lang="en-US" altLang="ja-JP" dirty="0"/>
                            <a:t>( </a:t>
                          </a:r>
                          <a:r>
                            <a:rPr kumimoji="1" lang="en-US" altLang="ja-JP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ja-JP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kumimoji="1" lang="en-US" altLang="ja-JP" dirty="0"/>
                            <a:t>= 1 , … , </a:t>
                          </a:r>
                          <a:r>
                            <a:rPr kumimoji="1" lang="en-US" altLang="ja-JP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kumimoji="1" lang="en-US" altLang="ja-JP" baseline="-25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</a:t>
                          </a:r>
                          <a:r>
                            <a:rPr kumimoji="1" lang="en-US" altLang="ja-JP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</a:t>
                          </a:r>
                          <a:r>
                            <a:rPr kumimoji="1" lang="en-US" altLang="ja-JP" dirty="0"/>
                            <a:t>)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3031728"/>
                      </a:ext>
                    </a:extLst>
                  </a:tr>
                  <a:tr h="6372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col</m:t>
                                    </m:r>
                                  </m:sub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選点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kumimoji="1" lang="en-US" altLang="ja-JP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ja-JP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ja-JP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col</m:t>
                                  </m:r>
                                </m:sub>
                                <m:sup>
                                  <m:r>
                                    <a:rPr kumimoji="1" lang="en-US" altLang="ja-JP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kumimoji="1" lang="ja-JP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に対応する出力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897846"/>
                      </a:ext>
                    </a:extLst>
                  </a:tr>
                  <a:tr h="60935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b</m:t>
                                    </m:r>
                                    <m: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c</m:t>
                                    </m:r>
                                    <m: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</m:sub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境界上の点</a:t>
                          </a:r>
                          <a:br>
                            <a:rPr kumimoji="1" lang="en-US" altLang="ja-JP" dirty="0"/>
                          </a:br>
                          <a:r>
                            <a:rPr kumimoji="1" lang="en-US" altLang="ja-JP" dirty="0"/>
                            <a:t>( </a:t>
                          </a:r>
                          <a:r>
                            <a:rPr kumimoji="1" lang="en-US" altLang="ja-JP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  </a:t>
                          </a:r>
                          <a:r>
                            <a:rPr kumimoji="1" lang="en-US" altLang="ja-JP" dirty="0"/>
                            <a:t>= 1 , … , </a:t>
                          </a:r>
                          <a:r>
                            <a:rPr kumimoji="1" lang="en-US" altLang="ja-JP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kumimoji="1" lang="en-US" altLang="ja-JP" baseline="-25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b.c</a:t>
                          </a:r>
                          <a:r>
                            <a:rPr kumimoji="1" lang="en-US" altLang="ja-JP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</a:t>
                          </a:r>
                          <a:r>
                            <a:rPr kumimoji="1" lang="en-US" altLang="ja-JP" dirty="0"/>
                            <a:t>)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2547880"/>
                      </a:ext>
                    </a:extLst>
                  </a:tr>
                  <a:tr h="41228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b</m:t>
                                    </m:r>
                                    <m: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c</m:t>
                                    </m:r>
                                    <m: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</m:sub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点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kumimoji="1" lang="en-US" altLang="ja-JP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ja-JP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b</m:t>
                                  </m:r>
                                  <m: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.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</m:t>
                                  </m:r>
                                  <m: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.</m:t>
                                  </m:r>
                                </m:sub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kumimoji="1" lang="ja-JP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に対応する出力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738077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表 11">
                <a:extLst>
                  <a:ext uri="{FF2B5EF4-FFF2-40B4-BE49-F238E27FC236}">
                    <a16:creationId xmlns:a16="http://schemas.microsoft.com/office/drawing/2014/main" id="{E1A58B45-590E-103C-BD0F-0D7F2FC0B4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1121572"/>
                  </p:ext>
                </p:extLst>
              </p:nvPr>
            </p:nvGraphicFramePr>
            <p:xfrm>
              <a:off x="7773320" y="3307037"/>
              <a:ext cx="3110222" cy="278762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63218">
                      <a:extLst>
                        <a:ext uri="{9D8B030D-6E8A-4147-A177-3AD203B41FA5}">
                          <a16:colId xmlns:a16="http://schemas.microsoft.com/office/drawing/2014/main" val="699587553"/>
                        </a:ext>
                      </a:extLst>
                    </a:gridCol>
                    <a:gridCol w="2547004">
                      <a:extLst>
                        <a:ext uri="{9D8B030D-6E8A-4147-A177-3AD203B41FA5}">
                          <a16:colId xmlns:a16="http://schemas.microsoft.com/office/drawing/2014/main" val="3814852674"/>
                        </a:ext>
                      </a:extLst>
                    </a:gridCol>
                  </a:tblGrid>
                  <a:tr h="404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NN</a:t>
                          </a:r>
                          <a:r>
                            <a:rPr kumimoji="1" lang="ja-JP" altLang="en-US" dirty="0"/>
                            <a:t>への入力ベクトル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596084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5"/>
                          <a:stretch>
                            <a:fillRect l="-1075" t="-71429" r="-451613" b="-28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計算領域内の選点</a:t>
                          </a:r>
                          <a:endParaRPr kumimoji="1" lang="en-US" altLang="ja-JP" dirty="0"/>
                        </a:p>
                        <a:p>
                          <a:r>
                            <a:rPr kumimoji="1" lang="en-US" altLang="ja-JP" dirty="0"/>
                            <a:t>( </a:t>
                          </a:r>
                          <a:r>
                            <a:rPr kumimoji="1" lang="en-US" altLang="ja-JP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kumimoji="1" lang="en-US" altLang="ja-JP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kumimoji="1" lang="en-US" altLang="ja-JP" dirty="0"/>
                            <a:t>= 1 , … , </a:t>
                          </a:r>
                          <a:r>
                            <a:rPr kumimoji="1" lang="en-US" altLang="ja-JP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kumimoji="1" lang="en-US" altLang="ja-JP" baseline="-25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</a:t>
                          </a:r>
                          <a:r>
                            <a:rPr kumimoji="1" lang="en-US" altLang="ja-JP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</a:t>
                          </a:r>
                          <a:r>
                            <a:rPr kumimoji="1" lang="en-US" altLang="ja-JP" dirty="0"/>
                            <a:t>)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3031728"/>
                      </a:ext>
                    </a:extLst>
                  </a:tr>
                  <a:tr h="669417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5"/>
                          <a:stretch>
                            <a:fillRect l="-1075" t="-163636" r="-451613" b="-16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5"/>
                          <a:stretch>
                            <a:fillRect l="-22488" t="-163636" r="-478" b="-16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289784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5"/>
                          <a:stretch>
                            <a:fillRect l="-1075" t="-276190" r="-451613" b="-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境界上の点</a:t>
                          </a:r>
                          <a:br>
                            <a:rPr kumimoji="1" lang="en-US" altLang="ja-JP" dirty="0"/>
                          </a:br>
                          <a:r>
                            <a:rPr kumimoji="1" lang="en-US" altLang="ja-JP" dirty="0"/>
                            <a:t>( </a:t>
                          </a:r>
                          <a:r>
                            <a:rPr kumimoji="1" lang="en-US" altLang="ja-JP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  </a:t>
                          </a:r>
                          <a:r>
                            <a:rPr kumimoji="1" lang="en-US" altLang="ja-JP" dirty="0"/>
                            <a:t>= 1 , … , </a:t>
                          </a:r>
                          <a:r>
                            <a:rPr kumimoji="1" lang="en-US" altLang="ja-JP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kumimoji="1" lang="en-US" altLang="ja-JP" baseline="-25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b.c</a:t>
                          </a:r>
                          <a:r>
                            <a:rPr kumimoji="1" lang="en-US" altLang="ja-JP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</a:t>
                          </a:r>
                          <a:r>
                            <a:rPr kumimoji="1" lang="en-US" altLang="ja-JP" dirty="0"/>
                            <a:t>)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2547880"/>
                      </a:ext>
                    </a:extLst>
                  </a:tr>
                  <a:tr h="43307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5"/>
                          <a:stretch>
                            <a:fillRect l="-1075" t="-556338" r="-451613" b="-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5"/>
                          <a:stretch>
                            <a:fillRect l="-22488" t="-556338" r="-478" b="-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38077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37501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07FD08-224A-1F82-A1D8-7004E6ACC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PINN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86C05EB-F535-C361-73E3-9C2A8A928F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156" y="1664133"/>
                <a:ext cx="4822804" cy="511868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kumimoji="1" lang="en-US" altLang="ja-JP" dirty="0"/>
                  <a:t> </a:t>
                </a:r>
              </a:p>
              <a:p>
                <a:endParaRPr kumimoji="1" lang="ja-JP" altLang="en-US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86C05EB-F535-C361-73E3-9C2A8A928F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156" y="1664133"/>
                <a:ext cx="4822804" cy="511868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6AA8A61-0EAC-EDCD-BC77-34ABC1419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2023</a:t>
            </a:r>
            <a:r>
              <a:rPr kumimoji="1" lang="ja-JP" altLang="en-US"/>
              <a:t>年</a:t>
            </a:r>
            <a:r>
              <a:rPr kumimoji="1" lang="en-US" altLang="ja-JP"/>
              <a:t>5</a:t>
            </a:r>
            <a:r>
              <a:rPr kumimoji="1" lang="ja-JP" altLang="en-US"/>
              <a:t>月報告会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47E2692-3EED-EA5F-F96B-D0801B463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496D-8341-4259-A33B-F15F904FBB9D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コンテンツ プレースホルダー 2">
                <a:extLst>
                  <a:ext uri="{FF2B5EF4-FFF2-40B4-BE49-F238E27FC236}">
                    <a16:creationId xmlns:a16="http://schemas.microsoft.com/office/drawing/2014/main" id="{7FFC2A3A-1C79-27BB-C906-D77373A234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03803" y="1664133"/>
                <a:ext cx="5266533" cy="5118683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kumimoji="1"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l"/>
                  <a:defRPr kumimoji="1"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kumimoji="1"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ü"/>
                  <a:defRPr kumimoji="1"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kumimoji="1"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kumimoji="1"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kumimoji="1"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kumimoji="1"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kumimoji="1"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dirty="0"/>
              </a:p>
              <a:p>
                <a:endParaRPr lang="ja-JP" altLang="en-US" dirty="0"/>
              </a:p>
            </p:txBody>
          </p:sp>
        </mc:Choice>
        <mc:Fallback>
          <p:sp>
            <p:nvSpPr>
              <p:cNvPr id="6" name="コンテンツ プレースホルダー 2">
                <a:extLst>
                  <a:ext uri="{FF2B5EF4-FFF2-40B4-BE49-F238E27FC236}">
                    <a16:creationId xmlns:a16="http://schemas.microsoft.com/office/drawing/2014/main" id="{7FFC2A3A-1C79-27BB-C906-D77373A23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803" y="1664133"/>
                <a:ext cx="5266533" cy="5118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FBAF93E-D639-3072-F16C-7AEA16993369}"/>
              </a:ext>
            </a:extLst>
          </p:cNvPr>
          <p:cNvSpPr txBox="1"/>
          <p:nvPr/>
        </p:nvSpPr>
        <p:spPr>
          <a:xfrm>
            <a:off x="1936866" y="3055512"/>
            <a:ext cx="2440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誤差が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になってほしい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A389F2B-9D85-3D6A-46AA-F21E4240B0AE}"/>
              </a:ext>
            </a:extLst>
          </p:cNvPr>
          <p:cNvSpPr txBox="1"/>
          <p:nvPr/>
        </p:nvSpPr>
        <p:spPr>
          <a:xfrm>
            <a:off x="9623481" y="2371898"/>
            <a:ext cx="220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式が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になってほしい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3803F26-682B-B3A5-C200-210E8A3114C3}"/>
              </a:ext>
            </a:extLst>
          </p:cNvPr>
          <p:cNvSpPr txBox="1"/>
          <p:nvPr/>
        </p:nvSpPr>
        <p:spPr>
          <a:xfrm>
            <a:off x="9631794" y="171320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運動方程式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4416A9A-22FD-3C1A-E605-9D8B09FAE376}"/>
              </a:ext>
            </a:extLst>
          </p:cNvPr>
          <p:cNvSpPr txBox="1"/>
          <p:nvPr/>
        </p:nvSpPr>
        <p:spPr>
          <a:xfrm>
            <a:off x="1033550" y="879782"/>
            <a:ext cx="23423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よくある学習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0FA42B2-79F4-B04B-DEC5-9249C4A399B0}"/>
              </a:ext>
            </a:extLst>
          </p:cNvPr>
          <p:cNvSpPr txBox="1"/>
          <p:nvPr/>
        </p:nvSpPr>
        <p:spPr>
          <a:xfrm>
            <a:off x="8237999" y="913629"/>
            <a:ext cx="10294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PINN</a:t>
            </a:r>
            <a:endParaRPr kumimoji="1" lang="ja-JP" altLang="en-US" sz="3200" dirty="0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F6893B6-DB23-8E1B-0EB7-BBF4D0CE16A6}"/>
              </a:ext>
            </a:extLst>
          </p:cNvPr>
          <p:cNvCxnSpPr/>
          <p:nvPr/>
        </p:nvCxnSpPr>
        <p:spPr>
          <a:xfrm>
            <a:off x="5544590" y="967037"/>
            <a:ext cx="0" cy="52134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816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DCAFDA9-178B-8D7C-5634-27EF7661B927}"/>
              </a:ext>
            </a:extLst>
          </p:cNvPr>
          <p:cNvSpPr/>
          <p:nvPr/>
        </p:nvSpPr>
        <p:spPr>
          <a:xfrm>
            <a:off x="5609222" y="2131724"/>
            <a:ext cx="1789105" cy="12456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7ACB563-6CD0-65A5-A586-8B6BC29DD68F}"/>
              </a:ext>
            </a:extLst>
          </p:cNvPr>
          <p:cNvSpPr/>
          <p:nvPr/>
        </p:nvSpPr>
        <p:spPr>
          <a:xfrm>
            <a:off x="5597237" y="1140431"/>
            <a:ext cx="498763" cy="768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F2E330D-E947-FBFE-4067-C943E3885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AB046AD-08E2-6208-0E1E-C85CFA6619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89615" y="1140431"/>
                <a:ext cx="7887657" cy="511868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kumimoji="1" lang="en-US" altLang="ja-JP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AB046AD-08E2-6208-0E1E-C85CFA6619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89615" y="1140431"/>
                <a:ext cx="7887657" cy="511868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3FB6AF5-0D09-0381-792C-7E71AE559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2023</a:t>
            </a:r>
            <a:r>
              <a:rPr kumimoji="1" lang="ja-JP" altLang="en-US"/>
              <a:t>年</a:t>
            </a:r>
            <a:r>
              <a:rPr kumimoji="1" lang="en-US" altLang="ja-JP"/>
              <a:t>5</a:t>
            </a:r>
            <a:r>
              <a:rPr kumimoji="1" lang="ja-JP" altLang="en-US"/>
              <a:t>月報告会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3B17269-06B7-C668-AF19-C75DF50B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496D-8341-4259-A33B-F15F904FBB9D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70154B81-B581-BE13-8146-06335D9BA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45" y="1140431"/>
            <a:ext cx="3839850" cy="22219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D2BB05A0-F0FC-59CE-2E8C-645AE3BB5AE0}"/>
                  </a:ext>
                </a:extLst>
              </p:cNvPr>
              <p:cNvSpPr txBox="1"/>
              <p:nvPr/>
            </p:nvSpPr>
            <p:spPr>
              <a:xfrm>
                <a:off x="4684801" y="2109110"/>
                <a:ext cx="2713526" cy="12456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den>
                      </m:f>
                      <m:f>
                        <m:fPr>
                          <m:ctrlP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num>
                        <m:den>
                          <m:r>
                            <a:rPr kumimoji="1" lang="en-US" altLang="ja-JP" sz="2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ja-JP" altLang="en-US" sz="2800" dirty="0"/>
              </a:p>
            </p:txBody>
          </p:sp>
        </mc:Choice>
        <mc:Fallback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D2BB05A0-F0FC-59CE-2E8C-645AE3BB5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801" y="2109110"/>
                <a:ext cx="2713526" cy="12456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9039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BCDAEA-241A-1A86-BEE4-7C4F5A8DF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単振り子の場合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FCDE070-6692-6C8A-F2C6-2980AD63A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2023</a:t>
            </a:r>
            <a:r>
              <a:rPr kumimoji="1" lang="ja-JP" altLang="en-US"/>
              <a:t>年</a:t>
            </a:r>
            <a:r>
              <a:rPr kumimoji="1" lang="en-US" altLang="ja-JP"/>
              <a:t>5</a:t>
            </a:r>
            <a:r>
              <a:rPr kumimoji="1" lang="ja-JP" altLang="en-US"/>
              <a:t>月報告会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E2E6E00-FF2B-CB86-9D11-E571F08EC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A496D-8341-4259-A33B-F15F904FBB9D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45435E3-22B2-0049-F2C1-C8978F984FFE}"/>
                  </a:ext>
                </a:extLst>
              </p:cNvPr>
              <p:cNvSpPr txBox="1"/>
              <p:nvPr/>
            </p:nvSpPr>
            <p:spPr>
              <a:xfrm>
                <a:off x="1418095" y="1187968"/>
                <a:ext cx="2789695" cy="72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45435E3-22B2-0049-F2C1-C8978F984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095" y="1187968"/>
                <a:ext cx="2789695" cy="7224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C3AD55DB-E533-43DC-575E-BBA840930B4F}"/>
                  </a:ext>
                </a:extLst>
              </p:cNvPr>
              <p:cNvSpPr txBox="1"/>
              <p:nvPr/>
            </p:nvSpPr>
            <p:spPr>
              <a:xfrm>
                <a:off x="1511084" y="2177275"/>
                <a:ext cx="2789695" cy="72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0=</m:t>
                      </m:r>
                      <m:acc>
                        <m:accPr>
                          <m:chr m:val="̈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kumimoji="1" lang="en-US" altLang="ja-JP" sz="24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C3AD55DB-E533-43DC-575E-BBA840930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084" y="2177275"/>
                <a:ext cx="2789695" cy="7224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3BF0850D-16BC-FE33-E0EA-FB39FB83D697}"/>
                  </a:ext>
                </a:extLst>
              </p:cNvPr>
              <p:cNvSpPr txBox="1"/>
              <p:nvPr/>
            </p:nvSpPr>
            <p:spPr>
              <a:xfrm>
                <a:off x="1511084" y="3225698"/>
                <a:ext cx="2789695" cy="722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eq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. =</m:t>
                      </m:r>
                      <m:acc>
                        <m:accPr>
                          <m:chr m:val="̈"/>
                          <m:ctrlP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en-US" altLang="ja-JP" sz="24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3BF0850D-16BC-FE33-E0EA-FB39FB83D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084" y="3225698"/>
                <a:ext cx="2789695" cy="7224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1AAE460-BB61-6B4F-694C-7FB2B03BE28E}"/>
                  </a:ext>
                </a:extLst>
              </p:cNvPr>
              <p:cNvSpPr txBox="1"/>
              <p:nvPr/>
            </p:nvSpPr>
            <p:spPr>
              <a:xfrm>
                <a:off x="711372" y="4273560"/>
                <a:ext cx="4595513" cy="674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ja-JP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28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acc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ja-JP" sz="2800" b="0" i="0" smtClean="0">
                          <a:latin typeface="Cambria Math" panose="02040503050406030204" pitchFamily="18" charset="0"/>
                        </a:rPr>
                        <m:t>arg</m:t>
                      </m:r>
                      <m:func>
                        <m:funcPr>
                          <m:ctrlP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ja-JP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kumimoji="1" lang="en-US" altLang="ja-JP" sz="28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2800" b="0" i="0" smtClean="0">
                                  <a:latin typeface="Cambria Math" panose="02040503050406030204" pitchFamily="18" charset="0"/>
                                </a:rPr>
                                <m:t>eq</m:t>
                              </m:r>
                              <m:r>
                                <a:rPr kumimoji="1" lang="en-US" altLang="ja-JP" sz="2800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sub>
                          </m:s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sz="2800" b="0" i="0" smtClean="0">
                                  <a:latin typeface="Cambria Math" panose="02040503050406030204" pitchFamily="18" charset="0"/>
                                </a:rPr>
                                <m:t>ini</m:t>
                              </m:r>
                            </m:sub>
                          </m:s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kumimoji="1" lang="ja-JP" altLang="en-US" sz="2800" dirty="0"/>
              </a:p>
            </p:txBody>
          </p:sp>
        </mc:Choice>
        <mc:Fallback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1AAE460-BB61-6B4F-694C-7FB2B03BE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72" y="4273560"/>
                <a:ext cx="4595513" cy="6740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B9556A8-8FB7-714C-9485-479A39B95873}"/>
              </a:ext>
            </a:extLst>
          </p:cNvPr>
          <p:cNvCxnSpPr>
            <a:cxnSpLocks/>
          </p:cNvCxnSpPr>
          <p:nvPr/>
        </p:nvCxnSpPr>
        <p:spPr>
          <a:xfrm>
            <a:off x="6896746" y="1910410"/>
            <a:ext cx="30037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948EF30B-DF32-DAE8-5ACE-0F17168586E4}"/>
              </a:ext>
            </a:extLst>
          </p:cNvPr>
          <p:cNvCxnSpPr>
            <a:cxnSpLocks/>
          </p:cNvCxnSpPr>
          <p:nvPr/>
        </p:nvCxnSpPr>
        <p:spPr>
          <a:xfrm>
            <a:off x="8398602" y="1910410"/>
            <a:ext cx="1234698" cy="17962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DE530019-F35A-CC66-7BCB-3F1E9636BD17}"/>
              </a:ext>
            </a:extLst>
          </p:cNvPr>
          <p:cNvSpPr/>
          <p:nvPr/>
        </p:nvSpPr>
        <p:spPr>
          <a:xfrm>
            <a:off x="9430719" y="3499265"/>
            <a:ext cx="534691" cy="5153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A1F35CAA-80C6-A663-3911-251C2A9E7D93}"/>
              </a:ext>
            </a:extLst>
          </p:cNvPr>
          <p:cNvCxnSpPr>
            <a:cxnSpLocks/>
          </p:cNvCxnSpPr>
          <p:nvPr/>
        </p:nvCxnSpPr>
        <p:spPr>
          <a:xfrm>
            <a:off x="8398602" y="1355341"/>
            <a:ext cx="0" cy="223157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コネクタ: 曲線 20">
            <a:extLst>
              <a:ext uri="{FF2B5EF4-FFF2-40B4-BE49-F238E27FC236}">
                <a16:creationId xmlns:a16="http://schemas.microsoft.com/office/drawing/2014/main" id="{8D273223-B81F-304E-C208-1409E43163FB}"/>
              </a:ext>
            </a:extLst>
          </p:cNvPr>
          <p:cNvCxnSpPr/>
          <p:nvPr/>
        </p:nvCxnSpPr>
        <p:spPr>
          <a:xfrm rot="10800000" flipV="1">
            <a:off x="8398602" y="2448732"/>
            <a:ext cx="365690" cy="89764"/>
          </a:xfrm>
          <a:prstGeom prst="curvedConnector3">
            <a:avLst>
              <a:gd name="adj1" fmla="val 7619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BCE5D1C8-1EF4-41CA-75E0-C5D7D2710E03}"/>
                  </a:ext>
                </a:extLst>
              </p:cNvPr>
              <p:cNvSpPr txBox="1"/>
              <p:nvPr/>
            </p:nvSpPr>
            <p:spPr>
              <a:xfrm>
                <a:off x="8314101" y="2509688"/>
                <a:ext cx="5346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BCE5D1C8-1EF4-41CA-75E0-C5D7D2710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4101" y="2509688"/>
                <a:ext cx="53469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円弧 24">
            <a:extLst>
              <a:ext uri="{FF2B5EF4-FFF2-40B4-BE49-F238E27FC236}">
                <a16:creationId xmlns:a16="http://schemas.microsoft.com/office/drawing/2014/main" id="{4BBCB2B2-2A4E-B65E-6053-503DF833EFE7}"/>
              </a:ext>
            </a:extLst>
          </p:cNvPr>
          <p:cNvSpPr/>
          <p:nvPr/>
        </p:nvSpPr>
        <p:spPr>
          <a:xfrm rot="19511076">
            <a:off x="8481292" y="1816903"/>
            <a:ext cx="771851" cy="1983282"/>
          </a:xfrm>
          <a:prstGeom prst="arc">
            <a:avLst>
              <a:gd name="adj1" fmla="val 16584977"/>
              <a:gd name="adj2" fmla="val 495592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FDD3021D-EFE9-5EE7-0E12-42E4C65C0296}"/>
                  </a:ext>
                </a:extLst>
              </p:cNvPr>
              <p:cNvSpPr txBox="1"/>
              <p:nvPr/>
            </p:nvSpPr>
            <p:spPr>
              <a:xfrm>
                <a:off x="9163373" y="2411719"/>
                <a:ext cx="5346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FDD3021D-EFE9-5EE7-0E12-42E4C65C0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3373" y="2411719"/>
                <a:ext cx="53469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A6BE61F8-12D2-14DC-DBD5-F5C3F28FACBC}"/>
                  </a:ext>
                </a:extLst>
              </p:cNvPr>
              <p:cNvSpPr txBox="1"/>
              <p:nvPr/>
            </p:nvSpPr>
            <p:spPr>
              <a:xfrm>
                <a:off x="9412052" y="3577887"/>
                <a:ext cx="5346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A6BE61F8-12D2-14DC-DBD5-F5C3F28FA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052" y="3577887"/>
                <a:ext cx="53469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90EA8D3-4ED0-6713-EACB-66F6321042F8}"/>
              </a:ext>
            </a:extLst>
          </p:cNvPr>
          <p:cNvCxnSpPr/>
          <p:nvPr/>
        </p:nvCxnSpPr>
        <p:spPr>
          <a:xfrm>
            <a:off x="4139738" y="4846321"/>
            <a:ext cx="7232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ED175B3-8DF9-BA42-0580-2974476DF103}"/>
              </a:ext>
            </a:extLst>
          </p:cNvPr>
          <p:cNvSpPr txBox="1"/>
          <p:nvPr/>
        </p:nvSpPr>
        <p:spPr>
          <a:xfrm>
            <a:off x="4101273" y="4903679"/>
            <a:ext cx="2186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初期値を学習する項</a:t>
            </a:r>
          </a:p>
        </p:txBody>
      </p:sp>
    </p:spTree>
    <p:extLst>
      <p:ext uri="{BB962C8B-B14F-4D97-AF65-F5344CB8AC3E}">
        <p14:creationId xmlns:p14="http://schemas.microsoft.com/office/powerpoint/2010/main" val="1510205128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青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22168</TotalTime>
  <Words>356</Words>
  <Application>Microsoft Office PowerPoint</Application>
  <PresentationFormat>ワイド画面</PresentationFormat>
  <Paragraphs>75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游ゴシック</vt:lpstr>
      <vt:lpstr>Calibri</vt:lpstr>
      <vt:lpstr>Calibri Light</vt:lpstr>
      <vt:lpstr>Cambria Math</vt:lpstr>
      <vt:lpstr>Times New Roman</vt:lpstr>
      <vt:lpstr>Wingdings</vt:lpstr>
      <vt:lpstr>レトロスペクト</vt:lpstr>
      <vt:lpstr>PINNの説明</vt:lpstr>
      <vt:lpstr>PowerPoint プレゼンテーション</vt:lpstr>
      <vt:lpstr>PowerPoint プレゼンテーション</vt:lpstr>
      <vt:lpstr>PINN</vt:lpstr>
      <vt:lpstr>PowerPoint プレゼンテーション</vt:lpstr>
      <vt:lpstr>単振り子の場合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g1912063</dc:creator>
  <cp:lastModifiedBy>g2381034</cp:lastModifiedBy>
  <cp:revision>118</cp:revision>
  <dcterms:created xsi:type="dcterms:W3CDTF">2021-12-07T04:59:53Z</dcterms:created>
  <dcterms:modified xsi:type="dcterms:W3CDTF">2025-01-07T06:10:48Z</dcterms:modified>
</cp:coreProperties>
</file>